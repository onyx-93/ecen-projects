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12"/>
  </p:notesMasterIdLst>
  <p:sldIdLst>
    <p:sldId id="256" r:id="rId2"/>
    <p:sldId id="259" r:id="rId3"/>
    <p:sldId id="291" r:id="rId4"/>
    <p:sldId id="257" r:id="rId5"/>
    <p:sldId id="318" r:id="rId6"/>
    <p:sldId id="319" r:id="rId7"/>
    <p:sldId id="320" r:id="rId8"/>
    <p:sldId id="321" r:id="rId9"/>
    <p:sldId id="314" r:id="rId10"/>
    <p:sldId id="270" r:id="rId11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13"/>
    </p:embeddedFont>
    <p:embeddedFont>
      <p:font typeface="Inter Medium" panose="020B0604020202020204" charset="0"/>
      <p:regular r:id="rId14"/>
      <p:bold r:id="rId15"/>
      <p:italic r:id="rId16"/>
      <p:boldItalic r:id="rId17"/>
    </p:embeddedFont>
    <p:embeddedFont>
      <p:font typeface="Nunito Light" pitchFamily="2" charset="0"/>
      <p:regular r:id="rId18"/>
      <p:italic r:id="rId19"/>
    </p:embeddedFont>
    <p:embeddedFont>
      <p:font typeface="Open Sans" panose="020B0606030504020204" pitchFamily="34" charset="0"/>
      <p:regular r:id="rId20"/>
      <p:bold r:id="rId21"/>
      <p:italic r:id="rId22"/>
      <p:boldItalic r:id="rId23"/>
    </p:embeddedFont>
    <p:embeddedFont>
      <p:font typeface="Roboto" panose="02000000000000000000" pitchFamily="2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BFB73FC-56DD-4E29-8FF2-4BCA7CAD1730}">
  <a:tblStyle styleId="{1BFB73FC-56DD-4E29-8FF2-4BCA7CAD173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3F0AA3B-4738-4D36-89F4-905FB428518A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1541" autoAdjust="0"/>
  </p:normalViewPr>
  <p:slideViewPr>
    <p:cSldViewPr snapToGrid="0">
      <p:cViewPr varScale="1">
        <p:scale>
          <a:sx n="152" d="100"/>
          <a:sy n="152" d="100"/>
        </p:scale>
        <p:origin x="2060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48300ce30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35" name="Google Shape;135;g348300ce30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76" name="Google Shape;176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/>
              <a:t>It is used for both existing systems and planning future changes, such as adding new generation or transmission. </a:t>
            </a: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>
          <a:extLst>
            <a:ext uri="{FF2B5EF4-FFF2-40B4-BE49-F238E27FC236}">
              <a16:creationId xmlns:a16="http://schemas.microsoft.com/office/drawing/2014/main" id="{07B1E414-A4DC-68A6-0AD0-9AE55E287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47e906a12e_0_14008:notes">
            <a:extLst>
              <a:ext uri="{FF2B5EF4-FFF2-40B4-BE49-F238E27FC236}">
                <a16:creationId xmlns:a16="http://schemas.microsoft.com/office/drawing/2014/main" id="{FFEBDEAF-54D3-1ACE-950A-BB2D5E59CD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86" name="Google Shape;186;g347e906a12e_0_14008:notes">
            <a:extLst>
              <a:ext uri="{FF2B5EF4-FFF2-40B4-BE49-F238E27FC236}">
                <a16:creationId xmlns:a16="http://schemas.microsoft.com/office/drawing/2014/main" id="{BF288168-D9A6-1E91-C0CC-0A18D265FE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296877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Google Shape;144;gd431007ba2_0_208:notes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343400"/>
                <a:ext cx="5486400" cy="41148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600"/>
                  </a:spcAft>
                  <a:buClr>
                    <a:srgbClr val="000000"/>
                  </a:buClr>
                  <a:buSzTx/>
                  <a:buFont typeface="Arial"/>
                  <a:buChar char="•"/>
                  <a:tabLst/>
                  <a:defRPr/>
                </a:pPr>
                <a:endParaRPr lang="en-US" sz="1100" dirty="0">
                  <a:effectLst/>
                </a:endParaRPr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600"/>
                  </a:spcAft>
                  <a:buClr>
                    <a:srgbClr val="000000"/>
                  </a:buClr>
                  <a:buSzTx/>
                  <a:buFont typeface="Arial"/>
                  <a:buChar char="•"/>
                  <a:tabLst/>
                  <a:defRPr/>
                </a:pPr>
                <a:r>
                  <a:rPr lang="en-US" dirty="0">
                    <a:effectLst/>
                  </a:rPr>
                  <a:t>The slack bus (bus 1) has its two most important values already fixed and known before the iteration even starts</a:t>
                </a:r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600"/>
                  </a:spcAft>
                  <a:buClr>
                    <a:srgbClr val="000000"/>
                  </a:buClr>
                  <a:buSzTx/>
                  <a:buFont typeface="Arial"/>
                  <a:buChar char="•"/>
                  <a:tabLst/>
                  <a:defRPr/>
                </a:pPr>
                <a:endParaRPr lang="en-US" sz="1100" dirty="0">
                  <a:effectLst/>
                </a:endParaRPr>
              </a:p>
              <a:p>
                <a:pPr marL="158750" indent="0">
                  <a:buNone/>
                </a:pPr>
                <a:r>
                  <a:rPr lang="en-US" dirty="0">
                    <a:effectLst/>
                  </a:rPr>
                  <a:t>       The slack bus is a special “reference” bus with two key roles:</a:t>
                </a:r>
              </a:p>
              <a:p>
                <a:pPr marL="158750" indent="0">
                  <a:buNone/>
                </a:pPr>
                <a:r>
                  <a:rPr lang="en-US" b="1" dirty="0"/>
                  <a:t>	Angle Reference</a:t>
                </a:r>
                <a:r>
                  <a:rPr lang="en-US" dirty="0"/>
                  <a:t> It sets the zero point for all phase angles in the system. All other bus angles (δ) are measured relative to the slack bus angle of 0°. This makes the 	math consistent.</a:t>
                </a:r>
              </a:p>
              <a:p>
                <a:pPr marL="158750" indent="0">
                  <a:buNone/>
                </a:pPr>
                <a:r>
                  <a:rPr lang="en-US" b="1" dirty="0"/>
                  <a:t>	Power Balancer</a:t>
                </a:r>
                <a:r>
                  <a:rPr lang="en-US" dirty="0"/>
                  <a:t> It supplies (or absorbs) whatever real power (P) and reactive power (Q) is left over after all other generators and loads are accounted for. → After 	Newton-Raphson converges, the program calculates how much power the slack bus must provide (this is the “Slack: P=10.403 MW, Q=92.537 MVAr” you see in 	your report). This automatically balances the entire system, including losses.</a:t>
                </a:r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600"/>
                  </a:spcAft>
                  <a:buClr>
                    <a:srgbClr val="000000"/>
                  </a:buClr>
                  <a:buSzTx/>
                  <a:buFont typeface="Arial"/>
                  <a:buChar char="•"/>
                  <a:tabLst/>
                  <a:defRPr/>
                </a:pPr>
                <a:endParaRPr lang="en-US" sz="1100" dirty="0">
                  <a:effectLst/>
                </a:endParaRPr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600"/>
                  </a:spcAft>
                  <a:buClr>
                    <a:srgbClr val="000000"/>
                  </a:buClr>
                  <a:buSzTx/>
                  <a:buFont typeface="Arial"/>
                  <a:buChar char="•"/>
                  <a:tabLst/>
                  <a:defRPr/>
                </a:pPr>
                <a:endParaRPr lang="en-US" sz="1100" dirty="0">
                  <a:effectLst/>
                </a:endParaRPr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600"/>
                  </a:spcAft>
                  <a:buClr>
                    <a:srgbClr val="000000"/>
                  </a:buClr>
                  <a:buSzTx/>
                  <a:buFont typeface="Arial"/>
                  <a:buChar char="•"/>
                  <a:tabLst/>
                  <a:defRPr/>
                </a:pPr>
                <a:r>
                  <a:rPr lang="en-US" sz="1100" dirty="0">
                    <a:effectLst/>
                  </a:rPr>
                  <a:t>Compute the current injections using the network: </a:t>
                </a:r>
                <a14:m>
                  <m:oMath xmlns:m="http://schemas.openxmlformats.org/officeDocument/2006/math">
                    <m:r>
                      <a:rPr lang="en-US" sz="1100" b="1" i="0" smtClean="0">
                        <a:effectLst/>
                        <a:latin typeface="Cambria Math" panose="02040503050406030204" pitchFamily="18" charset="0"/>
                      </a:rPr>
                      <m:t>𝐈</m:t>
                    </m:r>
                    <m:r>
                      <a:rPr lang="en-US" sz="1100" b="1" i="0" smtClean="0">
                        <a:effectLst/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100" b="1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1" i="0" smtClean="0">
                            <a:effectLst/>
                            <a:latin typeface="Cambria Math" panose="02040503050406030204" pitchFamily="18" charset="0"/>
                          </a:rPr>
                          <m:t>𝐘</m:t>
                        </m:r>
                      </m:e>
                      <m:sub>
                        <m:r>
                          <a:rPr lang="en-US" sz="1100" b="1" i="0" smtClean="0">
                            <a:effectLst/>
                            <a:latin typeface="Cambria Math" panose="02040503050406030204" pitchFamily="18" charset="0"/>
                          </a:rPr>
                          <m:t>𝐛𝐮𝐬</m:t>
                        </m:r>
                      </m:sub>
                    </m:sSub>
                    <m:r>
                      <a:rPr lang="en-US" sz="1100" b="1" i="0" smtClean="0">
                        <a:effectLst/>
                        <a:latin typeface="Cambria Math" panose="02040503050406030204" pitchFamily="18" charset="0"/>
                      </a:rPr>
                      <m:t>𝐕</m:t>
                    </m:r>
                  </m:oMath>
                </a14:m>
                <a:endParaRPr lang="en-US" sz="1100" b="1" dirty="0">
                  <a:effectLst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60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lang="en-US" sz="1100" b="1" dirty="0">
                    <a:effectLst/>
                  </a:rPr>
                  <a:t>	</a:t>
                </a:r>
                <a:r>
                  <a:rPr lang="en-US" dirty="0"/>
                  <a:t>What it represents: It completely describes the electrical connections of the entire network (every line’s resistance, reactance, and shunt elements are packed into 	this one matrix).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60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lang="en-US" dirty="0"/>
                  <a:t>	 How it works in the solver: </a:t>
                </a:r>
                <a:r>
                  <a:rPr lang="en-US" dirty="0" err="1"/>
                  <a:t>Ybus</a:t>
                </a:r>
                <a:r>
                  <a:rPr lang="en-US" dirty="0"/>
                  <a:t> is built </a:t>
                </a:r>
                <a:r>
                  <a:rPr lang="en-US" b="1" dirty="0"/>
                  <a:t>once</a:t>
                </a:r>
                <a:r>
                  <a:rPr lang="en-US" dirty="0"/>
                  <a:t> at the beginning (before the Newton-Raphson loop starts) from the branch data. It never changes during the 	iterations. It is used in every iteration to compute currents from voltages</a:t>
                </a:r>
                <a:endParaRPr lang="en-US" sz="1100" b="1" dirty="0">
                  <a:effectLst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60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lang="en-US" sz="1100" b="1" dirty="0">
                  <a:effectLst/>
                </a:endParaRPr>
              </a:p>
            </p:txBody>
          </p:sp>
        </mc:Choice>
        <mc:Fallback xmlns="">
          <p:sp>
            <p:nvSpPr>
              <p:cNvPr id="144" name="Google Shape;144;gd431007ba2_0_208:notes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343400"/>
                <a:ext cx="5486400" cy="41148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600"/>
                  </a:spcAft>
                  <a:buClr>
                    <a:srgbClr val="000000"/>
                  </a:buClr>
                  <a:buSzTx/>
                  <a:buFont typeface="Arial"/>
                  <a:buChar char="•"/>
                  <a:tabLst/>
                  <a:defRPr/>
                </a:pPr>
                <a:endParaRPr lang="en-US" sz="1100" dirty="0">
                  <a:effectLst/>
                </a:endParaRPr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600"/>
                  </a:spcAft>
                  <a:buClr>
                    <a:srgbClr val="000000"/>
                  </a:buClr>
                  <a:buSzTx/>
                  <a:buFont typeface="Arial"/>
                  <a:buChar char="•"/>
                  <a:tabLst/>
                  <a:defRPr/>
                </a:pPr>
                <a:r>
                  <a:rPr lang="en-US" dirty="0">
                    <a:effectLst/>
                  </a:rPr>
                  <a:t>The slack bus (bus 1) has its two most important values already fixed and known before the iteration even starts</a:t>
                </a:r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600"/>
                  </a:spcAft>
                  <a:buClr>
                    <a:srgbClr val="000000"/>
                  </a:buClr>
                  <a:buSzTx/>
                  <a:buFont typeface="Arial"/>
                  <a:buChar char="•"/>
                  <a:tabLst/>
                  <a:defRPr/>
                </a:pPr>
                <a:endParaRPr lang="en-US" sz="1100" dirty="0">
                  <a:effectLst/>
                </a:endParaRPr>
              </a:p>
              <a:p>
                <a:pPr marL="158750" indent="0">
                  <a:buNone/>
                </a:pPr>
                <a:r>
                  <a:rPr lang="en-US" dirty="0">
                    <a:effectLst/>
                  </a:rPr>
                  <a:t>       The slack bus is a special “reference” bus with two key roles:</a:t>
                </a:r>
              </a:p>
              <a:p>
                <a:pPr marL="158750" indent="0">
                  <a:buNone/>
                </a:pPr>
                <a:r>
                  <a:rPr lang="en-US" b="1" dirty="0"/>
                  <a:t>	Angle Reference</a:t>
                </a:r>
                <a:r>
                  <a:rPr lang="en-US" dirty="0"/>
                  <a:t> It sets the zero point for all phase angles in the system. All other bus angles (δ) are measured relative to the slack bus angle of 0°. This makes the 	math consistent.</a:t>
                </a:r>
              </a:p>
              <a:p>
                <a:pPr marL="158750" indent="0">
                  <a:buNone/>
                </a:pPr>
                <a:r>
                  <a:rPr lang="en-US" b="1" dirty="0"/>
                  <a:t>	Power Balancer</a:t>
                </a:r>
                <a:r>
                  <a:rPr lang="en-US" dirty="0"/>
                  <a:t> It supplies (or absorbs) whatever real power (P) and reactive power (Q) is left over after all other generators and loads are accounted for. → After 	Newton-Raphson converges, the program calculates how much power the slack bus must provide (this is the “Slack: P=10.403 MW, Q=92.537 MVAr” you see in 	your report). This automatically balances the entire system, including losses.</a:t>
                </a:r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600"/>
                  </a:spcAft>
                  <a:buClr>
                    <a:srgbClr val="000000"/>
                  </a:buClr>
                  <a:buSzTx/>
                  <a:buFont typeface="Arial"/>
                  <a:buChar char="•"/>
                  <a:tabLst/>
                  <a:defRPr/>
                </a:pPr>
                <a:endParaRPr lang="en-US" sz="1100" dirty="0">
                  <a:effectLst/>
                </a:endParaRPr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600"/>
                  </a:spcAft>
                  <a:buClr>
                    <a:srgbClr val="000000"/>
                  </a:buClr>
                  <a:buSzTx/>
                  <a:buFont typeface="Arial"/>
                  <a:buChar char="•"/>
                  <a:tabLst/>
                  <a:defRPr/>
                </a:pPr>
                <a:endParaRPr lang="en-US" sz="1100" dirty="0">
                  <a:effectLst/>
                </a:endParaRPr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600"/>
                  </a:spcAft>
                  <a:buClr>
                    <a:srgbClr val="000000"/>
                  </a:buClr>
                  <a:buSzTx/>
                  <a:buFont typeface="Arial"/>
                  <a:buChar char="•"/>
                  <a:tabLst/>
                  <a:defRPr/>
                </a:pPr>
                <a:r>
                  <a:rPr lang="en-US" sz="1100" dirty="0">
                    <a:effectLst/>
                  </a:rPr>
                  <a:t>Compute the current injections using the network: </a:t>
                </a:r>
                <a:r>
                  <a:rPr lang="en-US" sz="1100" b="1" i="0">
                    <a:effectLst/>
                    <a:latin typeface="Cambria Math" panose="02040503050406030204" pitchFamily="18" charset="0"/>
                  </a:rPr>
                  <a:t>𝐈=𝐘_𝐛𝐮𝐬 𝐕</a:t>
                </a:r>
                <a:endParaRPr lang="en-US" sz="1100" b="1" dirty="0">
                  <a:effectLst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60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lang="en-US" sz="1100" b="1" dirty="0">
                    <a:effectLst/>
                  </a:rPr>
                  <a:t>	</a:t>
                </a:r>
                <a:r>
                  <a:rPr lang="en-US" dirty="0"/>
                  <a:t>What it represents: It completely describes the electrical connections of the entire network (every line’s resistance, reactance, and shunt elements are packed into 	this one matrix).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60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lang="en-US" dirty="0"/>
                  <a:t>	 How it works in the solver: </a:t>
                </a:r>
                <a:r>
                  <a:rPr lang="en-US" dirty="0" err="1"/>
                  <a:t>Ybus</a:t>
                </a:r>
                <a:r>
                  <a:rPr lang="en-US" dirty="0"/>
                  <a:t> is built </a:t>
                </a:r>
                <a:r>
                  <a:rPr lang="en-US" b="1" dirty="0"/>
                  <a:t>once</a:t>
                </a:r>
                <a:r>
                  <a:rPr lang="en-US" dirty="0"/>
                  <a:t> at the beginning (before the Newton-Raphson loop starts) from the branch data. It never changes during the 	iterations. It is used in every iteration to compute currents from voltages</a:t>
                </a:r>
                <a:endParaRPr lang="en-US" sz="1100" b="1" dirty="0">
                  <a:effectLst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60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lang="en-US" sz="1100" b="1" dirty="0">
                  <a:effectLst/>
                </a:endParaRPr>
              </a:p>
            </p:txBody>
          </p:sp>
        </mc:Fallback>
      </mc:AlternateContent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>
          <a:extLst>
            <a:ext uri="{FF2B5EF4-FFF2-40B4-BE49-F238E27FC236}">
              <a16:creationId xmlns:a16="http://schemas.microsoft.com/office/drawing/2014/main" id="{976FF129-8B16-A773-A532-94EBB38F1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d431007ba2_0_208:notes">
            <a:extLst>
              <a:ext uri="{FF2B5EF4-FFF2-40B4-BE49-F238E27FC236}">
                <a16:creationId xmlns:a16="http://schemas.microsoft.com/office/drawing/2014/main" id="{E17718B1-8655-4575-FF44-E914CD9D47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44" name="Google Shape;144;gd431007ba2_0_208:notes">
            <a:extLst>
              <a:ext uri="{FF2B5EF4-FFF2-40B4-BE49-F238E27FC236}">
                <a16:creationId xmlns:a16="http://schemas.microsoft.com/office/drawing/2014/main" id="{6BAE9858-969F-C353-472B-98E7FE37AE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When n=k diagonal components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05409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>
          <a:extLst>
            <a:ext uri="{FF2B5EF4-FFF2-40B4-BE49-F238E27FC236}">
              <a16:creationId xmlns:a16="http://schemas.microsoft.com/office/drawing/2014/main" id="{AF415BA0-D00E-4669-FAB9-9F1607387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d431007ba2_0_208:notes">
            <a:extLst>
              <a:ext uri="{FF2B5EF4-FFF2-40B4-BE49-F238E27FC236}">
                <a16:creationId xmlns:a16="http://schemas.microsoft.com/office/drawing/2014/main" id="{D3D1C587-4F94-5108-0F51-87519AED75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44" name="Google Shape;144;gd431007ba2_0_208:notes">
            <a:extLst>
              <a:ext uri="{FF2B5EF4-FFF2-40B4-BE49-F238E27FC236}">
                <a16:creationId xmlns:a16="http://schemas.microsoft.com/office/drawing/2014/main" id="{7D160FC8-DDF2-5740-2F9C-FB7A693BF5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dirty="0">
                <a:effectLst/>
              </a:rPr>
              <a:t>In real power-flow problems the Jacobian J is frequently ill-conditioned (nearly singular). This happens because: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US" dirty="0"/>
              <a:t>The system can be heavily loaded.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US" dirty="0"/>
              <a:t>Voltage magnitudes are close to 1.0 </a:t>
            </a:r>
            <a:r>
              <a:rPr lang="en-US" dirty="0" err="1"/>
              <a:t>p.u</a:t>
            </a:r>
            <a:r>
              <a:rPr lang="en-US" dirty="0"/>
              <a:t>. while angles are small.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US" dirty="0"/>
              <a:t>Some lines have very high or very low R/X ratios.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US" dirty="0"/>
              <a:t>During early iterations the linear approximation can be poor.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endParaRPr lang="en-US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dirty="0">
                <a:effectLst/>
              </a:rPr>
              <a:t>When J is ill-conditioned: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US" dirty="0"/>
              <a:t>Direct Gauss elimination can produce </a:t>
            </a:r>
            <a:r>
              <a:rPr lang="en-US" b="1" dirty="0"/>
              <a:t>huge rounding errors</a:t>
            </a:r>
            <a:r>
              <a:rPr lang="en-US" dirty="0"/>
              <a:t>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US" dirty="0"/>
              <a:t>The correction </a:t>
            </a:r>
            <a:r>
              <a:rPr lang="en-US" b="1" dirty="0"/>
              <a:t>dx</a:t>
            </a:r>
            <a:r>
              <a:rPr lang="en-US" dirty="0"/>
              <a:t> can become unrealistically large.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US" dirty="0"/>
              <a:t>The iteration diverges or crashes (</a:t>
            </a:r>
            <a:r>
              <a:rPr lang="en-US" dirty="0" err="1"/>
              <a:t>NaN</a:t>
            </a:r>
            <a:r>
              <a:rPr lang="en-US" dirty="0"/>
              <a:t>/Inf).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dirty="0">
                <a:effectLst/>
              </a:rPr>
              <a:t>Main Reasons Levenberg-Marquardt is better for power flow:</a:t>
            </a:r>
          </a:p>
          <a:p>
            <a:r>
              <a:rPr lang="en-US" b="1" dirty="0"/>
              <a:t>Handles ill-conditioned Jacobian</a:t>
            </a:r>
            <a:r>
              <a:rPr lang="en-US" dirty="0"/>
              <a:t> In power systems, the Jacobian matrix </a:t>
            </a:r>
            <a:r>
              <a:rPr lang="en-US" b="1" dirty="0"/>
              <a:t>J</a:t>
            </a:r>
            <a:r>
              <a:rPr lang="en-US" dirty="0"/>
              <a:t> often becomes nearly singular (especially near heavy loading or during initial iterations). Plain Gauss elimination amplifies numerical errors badly. Levenberg-Marquardt adds a small positive number (lambda * I) to the diagonal, making the matrix always invertible and well-behaved. </a:t>
            </a:r>
          </a:p>
          <a:p>
            <a:r>
              <a:rPr lang="en-US" b="1" dirty="0"/>
              <a:t>Prevents divergence</a:t>
            </a:r>
            <a:r>
              <a:rPr lang="en-US" dirty="0"/>
              <a:t> Pure Newton can overshoot dramatically when the initial guess is not great. Levenberg-Marquardt automatically reduces the step size when needed, making corrections more conservative and safer. </a:t>
            </a:r>
          </a:p>
          <a:p>
            <a:r>
              <a:rPr lang="en-US" b="1" dirty="0"/>
              <a:t>Combines the best of two worlds</a:t>
            </a:r>
            <a:r>
              <a:rPr lang="en-US" dirty="0"/>
              <a:t> When close to the solution → λ is small → behaves almost exactly like classic Newton-Raphson (very fast quadratic convergence). When far from the solution → λ becomes larger → acts more like a stable gradient-descent step.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tabLst/>
              <a:defRPr/>
            </a:pPr>
            <a:endParaRPr lang="en-US" dirty="0">
              <a:effectLst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35597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>
          <a:extLst>
            <a:ext uri="{FF2B5EF4-FFF2-40B4-BE49-F238E27FC236}">
              <a16:creationId xmlns:a16="http://schemas.microsoft.com/office/drawing/2014/main" id="{CF5FC2EF-A7B1-1377-819D-C3AD64175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47e906a12e_0_14008:notes">
            <a:extLst>
              <a:ext uri="{FF2B5EF4-FFF2-40B4-BE49-F238E27FC236}">
                <a16:creationId xmlns:a16="http://schemas.microsoft.com/office/drawing/2014/main" id="{B777D5E6-FCAC-5BAA-147E-4B65BFA6B0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86" name="Google Shape;186;g347e906a12e_0_14008:notes">
            <a:extLst>
              <a:ext uri="{FF2B5EF4-FFF2-40B4-BE49-F238E27FC236}">
                <a16:creationId xmlns:a16="http://schemas.microsoft.com/office/drawing/2014/main" id="{49239A2A-0337-859A-354D-C82FB05304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06049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D63CD-9FE1-DCE3-B11A-677E4AD9D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1D5CBA-288C-7562-AA0B-759331071C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67484C-52CB-73C2-BAFE-A42C7EEAA3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6565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5452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135e18421cc_13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52" name="Google Shape;352;g135e18421cc_13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10800000" flipH="1">
            <a:off x="117900" y="119100"/>
            <a:ext cx="8908200" cy="4731900"/>
          </a:xfrm>
          <a:prstGeom prst="roundRect">
            <a:avLst>
              <a:gd name="adj" fmla="val 1779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13225" y="1066800"/>
            <a:ext cx="5407800" cy="166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13226" y="3395547"/>
            <a:ext cx="6350100" cy="43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 rot="10800000" flipH="1">
            <a:off x="117900" y="119100"/>
            <a:ext cx="8908200" cy="4731900"/>
          </a:xfrm>
          <a:prstGeom prst="roundRect">
            <a:avLst>
              <a:gd name="adj" fmla="val 1779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722376" y="1861301"/>
            <a:ext cx="4131900" cy="156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5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2" hasCustomPrompt="1"/>
          </p:nvPr>
        </p:nvSpPr>
        <p:spPr>
          <a:xfrm>
            <a:off x="722376" y="984098"/>
            <a:ext cx="1235700" cy="87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 txBox="1">
            <a:spLocks noGrp="1"/>
          </p:cNvSpPr>
          <p:nvPr>
            <p:ph type="subTitle" idx="1"/>
          </p:nvPr>
        </p:nvSpPr>
        <p:spPr>
          <a:xfrm>
            <a:off x="722374" y="3431199"/>
            <a:ext cx="4131900" cy="4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/>
          <p:nvPr/>
        </p:nvSpPr>
        <p:spPr>
          <a:xfrm rot="10800000" flipH="1">
            <a:off x="117900" y="119100"/>
            <a:ext cx="8908200" cy="4731900"/>
          </a:xfrm>
          <a:prstGeom prst="roundRect">
            <a:avLst>
              <a:gd name="adj" fmla="val 177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720000" y="1210225"/>
            <a:ext cx="7704000" cy="3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dk1"/>
        </a:solid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/>
          <p:nvPr/>
        </p:nvSpPr>
        <p:spPr>
          <a:xfrm rot="10800000" flipH="1">
            <a:off x="117900" y="119100"/>
            <a:ext cx="8908200" cy="4731900"/>
          </a:xfrm>
          <a:prstGeom prst="roundRect">
            <a:avLst>
              <a:gd name="adj" fmla="val 177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713225" y="448050"/>
            <a:ext cx="36813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ubTitle" idx="1"/>
          </p:nvPr>
        </p:nvSpPr>
        <p:spPr>
          <a:xfrm>
            <a:off x="713225" y="1744525"/>
            <a:ext cx="3681300" cy="21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36" name="Google Shape;36;p7"/>
          <p:cNvSpPr>
            <a:spLocks noGrp="1"/>
          </p:cNvSpPr>
          <p:nvPr>
            <p:ph type="pic" idx="2"/>
          </p:nvPr>
        </p:nvSpPr>
        <p:spPr>
          <a:xfrm>
            <a:off x="4709525" y="445775"/>
            <a:ext cx="3721200" cy="42519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 rot="10800000" flipH="1">
            <a:off x="117900" y="119100"/>
            <a:ext cx="8908200" cy="4731900"/>
          </a:xfrm>
          <a:prstGeom prst="roundRect">
            <a:avLst>
              <a:gd name="adj" fmla="val 1779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/>
          <p:nvPr/>
        </p:nvSpPr>
        <p:spPr>
          <a:xfrm rot="10800000" flipH="1">
            <a:off x="117900" y="119100"/>
            <a:ext cx="8908200" cy="4731900"/>
          </a:xfrm>
          <a:prstGeom prst="roundRect">
            <a:avLst>
              <a:gd name="adj" fmla="val 1779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2" name="Google Shape;42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/>
          <p:nvPr/>
        </p:nvSpPr>
        <p:spPr>
          <a:xfrm rot="10800000" flipH="1">
            <a:off x="117900" y="119100"/>
            <a:ext cx="8908200" cy="4731900"/>
          </a:xfrm>
          <a:prstGeom prst="roundRect">
            <a:avLst>
              <a:gd name="adj" fmla="val 1779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9" name="Google Shape;49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288150"/>
            <a:ext cx="6576000" cy="152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>
            <a:spLocks noGrp="1"/>
          </p:cNvSpPr>
          <p:nvPr>
            <p:ph type="subTitle" idx="1"/>
          </p:nvPr>
        </p:nvSpPr>
        <p:spPr>
          <a:xfrm>
            <a:off x="1284000" y="2901800"/>
            <a:ext cx="6576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10">
    <p:bg>
      <p:bgPr>
        <a:solidFill>
          <a:schemeClr val="dk1"/>
        </a:soli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/>
          <p:nvPr/>
        </p:nvSpPr>
        <p:spPr>
          <a:xfrm rot="10800000" flipH="1">
            <a:off x="117900" y="119100"/>
            <a:ext cx="8908200" cy="4731900"/>
          </a:xfrm>
          <a:prstGeom prst="roundRect">
            <a:avLst>
              <a:gd name="adj" fmla="val 177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9" name="Google Shape;69;p14"/>
          <p:cNvSpPr txBox="1">
            <a:spLocks noGrp="1"/>
          </p:cNvSpPr>
          <p:nvPr>
            <p:ph type="subTitle" idx="1"/>
          </p:nvPr>
        </p:nvSpPr>
        <p:spPr>
          <a:xfrm>
            <a:off x="713225" y="1744525"/>
            <a:ext cx="3681300" cy="21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title"/>
          </p:nvPr>
        </p:nvSpPr>
        <p:spPr>
          <a:xfrm>
            <a:off x="713225" y="448050"/>
            <a:ext cx="36813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>
            <a:spLocks noGrp="1"/>
          </p:cNvSpPr>
          <p:nvPr>
            <p:ph type="pic" idx="2"/>
          </p:nvPr>
        </p:nvSpPr>
        <p:spPr>
          <a:xfrm>
            <a:off x="4709525" y="445775"/>
            <a:ext cx="3721200" cy="42519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1_1">
    <p:bg>
      <p:bgPr>
        <a:solidFill>
          <a:schemeClr val="dk1"/>
        </a:solid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/>
          <p:nvPr/>
        </p:nvSpPr>
        <p:spPr>
          <a:xfrm rot="10800000" flipH="1">
            <a:off x="117900" y="119100"/>
            <a:ext cx="8908200" cy="4731900"/>
          </a:xfrm>
          <a:prstGeom prst="roundRect">
            <a:avLst>
              <a:gd name="adj" fmla="val 177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1" name="Google Shape;81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/>
          <p:nvPr/>
        </p:nvSpPr>
        <p:spPr>
          <a:xfrm rot="10800000" flipH="1">
            <a:off x="117900" y="119100"/>
            <a:ext cx="8908200" cy="4731900"/>
          </a:xfrm>
          <a:prstGeom prst="roundRect">
            <a:avLst>
              <a:gd name="adj" fmla="val 1779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5" name="Google Shape;115;p21"/>
          <p:cNvSpPr txBox="1">
            <a:spLocks noGrp="1"/>
          </p:cNvSpPr>
          <p:nvPr>
            <p:ph type="title"/>
          </p:nvPr>
        </p:nvSpPr>
        <p:spPr>
          <a:xfrm>
            <a:off x="713225" y="539506"/>
            <a:ext cx="4448100" cy="95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5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1"/>
          <p:cNvSpPr txBox="1">
            <a:spLocks noGrp="1"/>
          </p:cNvSpPr>
          <p:nvPr>
            <p:ph type="subTitle" idx="1"/>
          </p:nvPr>
        </p:nvSpPr>
        <p:spPr>
          <a:xfrm>
            <a:off x="713225" y="1423672"/>
            <a:ext cx="4448100" cy="10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1"/>
          <p:cNvSpPr txBox="1"/>
          <p:nvPr/>
        </p:nvSpPr>
        <p:spPr>
          <a:xfrm>
            <a:off x="713225" y="3164478"/>
            <a:ext cx="3099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CREDITS: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This presentation template was created by </a:t>
            </a:r>
            <a:r>
              <a:rPr lang="en" sz="1000" b="1" u="sng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, and includes icons, infographics &amp; images by </a:t>
            </a:r>
            <a:r>
              <a:rPr lang="en" sz="1000" b="1" u="sng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000" b="1" u="sng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/>
          <p:nvPr/>
        </p:nvSpPr>
        <p:spPr>
          <a:xfrm rot="10800000" flipH="1">
            <a:off x="117900" y="119100"/>
            <a:ext cx="8908200" cy="4731900"/>
          </a:xfrm>
          <a:prstGeom prst="roundRect">
            <a:avLst>
              <a:gd name="adj" fmla="val 1779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bg>
      <p:bgPr>
        <a:solidFill>
          <a:schemeClr val="dk1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/>
          <p:nvPr/>
        </p:nvSpPr>
        <p:spPr>
          <a:xfrm rot="10800000" flipH="1">
            <a:off x="117900" y="119100"/>
            <a:ext cx="8908200" cy="4731900"/>
          </a:xfrm>
          <a:prstGeom prst="roundRect">
            <a:avLst>
              <a:gd name="adj" fmla="val 177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3" r:id="rId4"/>
    <p:sldLayoutId id="2147483654" r:id="rId5"/>
    <p:sldLayoutId id="2147483655" r:id="rId6"/>
    <p:sldLayoutId id="2147483657" r:id="rId7"/>
    <p:sldLayoutId id="2147483658" r:id="rId8"/>
    <p:sldLayoutId id="2147483660" r:id="rId9"/>
    <p:sldLayoutId id="2147483663" r:id="rId10"/>
    <p:sldLayoutId id="2147483667" r:id="rId11"/>
    <p:sldLayoutId id="2147483668" r:id="rId12"/>
    <p:sldLayoutId id="2147483669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8"/>
          <p:cNvSpPr txBox="1">
            <a:spLocks noGrp="1"/>
          </p:cNvSpPr>
          <p:nvPr>
            <p:ph type="ctrTitle"/>
          </p:nvPr>
        </p:nvSpPr>
        <p:spPr>
          <a:xfrm>
            <a:off x="713225" y="1066800"/>
            <a:ext cx="7380690" cy="166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 dirty="0"/>
              <a:t>Power Flow Solver</a:t>
            </a:r>
            <a:endParaRPr lang="en-US" dirty="0"/>
          </a:p>
        </p:txBody>
      </p:sp>
      <p:sp>
        <p:nvSpPr>
          <p:cNvPr id="138" name="Google Shape;138;p28"/>
          <p:cNvSpPr txBox="1">
            <a:spLocks noGrp="1"/>
          </p:cNvSpPr>
          <p:nvPr>
            <p:ph type="subTitle" idx="1"/>
          </p:nvPr>
        </p:nvSpPr>
        <p:spPr>
          <a:xfrm>
            <a:off x="713226" y="3395546"/>
            <a:ext cx="5398506" cy="7340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 dirty="0"/>
              <a:t>ECEN4293 – Python with Numerical Methods</a:t>
            </a:r>
          </a:p>
          <a:p>
            <a:pPr marL="0" indent="0"/>
            <a:r>
              <a:rPr lang="en" dirty="0"/>
              <a:t>Daniel Dubon</a:t>
            </a:r>
            <a:endParaRPr lang="en-US" dirty="0"/>
          </a:p>
        </p:txBody>
      </p:sp>
      <p:pic>
        <p:nvPicPr>
          <p:cNvPr id="8" name="Picture 7" descr="A black power lines with wires&#10;&#10;AI-generated content may be incorrect.">
            <a:extLst>
              <a:ext uri="{FF2B5EF4-FFF2-40B4-BE49-F238E27FC236}">
                <a16:creationId xmlns:a16="http://schemas.microsoft.com/office/drawing/2014/main" id="{C138197E-695D-2B41-BED6-7E50FA69F7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1010" y="2796425"/>
            <a:ext cx="2313825" cy="16539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1"/>
          <p:cNvSpPr txBox="1">
            <a:spLocks noGrp="1"/>
          </p:cNvSpPr>
          <p:nvPr>
            <p:ph type="title"/>
          </p:nvPr>
        </p:nvSpPr>
        <p:spPr>
          <a:xfrm>
            <a:off x="728264" y="273676"/>
            <a:ext cx="5353971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/>
              <a:t>What is Power Flow Analysis?</a:t>
            </a:r>
            <a:endParaRPr lang="en-US" dirty="0"/>
          </a:p>
        </p:txBody>
      </p:sp>
      <p:sp>
        <p:nvSpPr>
          <p:cNvPr id="183" name="Google Shape;183;p31"/>
          <p:cNvSpPr txBox="1">
            <a:spLocks noGrp="1"/>
          </p:cNvSpPr>
          <p:nvPr>
            <p:ph type="subTitle" idx="1"/>
          </p:nvPr>
        </p:nvSpPr>
        <p:spPr>
          <a:xfrm>
            <a:off x="277271" y="849676"/>
            <a:ext cx="4067654" cy="344414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400" dirty="0"/>
              <a:t>Power flow analysis is a fundamental tool used to study power systems under balanced steady-state conditions. It calculates the voltage magnitude and angle at each bus, along with real and reactive power flows and system losses across all connected equipment.</a:t>
            </a:r>
          </a:p>
          <a:p>
            <a:endParaRPr lang="en-US" sz="1400" dirty="0"/>
          </a:p>
          <a:p>
            <a:r>
              <a:rPr lang="en-US" sz="1400" dirty="0"/>
              <a:t>Traditional circuit analysis methods don’t work well here because loads are specified by power (not impedance) and generators are treated as power sources. As a result, the problem is formulated as a set of </a:t>
            </a:r>
            <a:r>
              <a:rPr lang="en-US" sz="1400" b="1" u="sng" dirty="0"/>
              <a:t>nonlinear</a:t>
            </a:r>
            <a:r>
              <a:rPr lang="en-US" sz="1400" b="1" dirty="0"/>
              <a:t> </a:t>
            </a:r>
            <a:r>
              <a:rPr lang="en-US" sz="1400" dirty="0"/>
              <a:t>algebraic equations.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FFC7A70E-4188-AAA8-799A-1C46F8D7BB7B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-61" r="413"/>
          <a:stretch>
            <a:fillRect/>
          </a:stretch>
        </p:blipFill>
        <p:spPr>
          <a:xfrm>
            <a:off x="4344925" y="849676"/>
            <a:ext cx="4468711" cy="3444148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50DC307-DBC9-5085-1F42-96FD7DFC146F}"/>
              </a:ext>
            </a:extLst>
          </p:cNvPr>
          <p:cNvSpPr txBox="1"/>
          <p:nvPr/>
        </p:nvSpPr>
        <p:spPr>
          <a:xfrm>
            <a:off x="6082235" y="4369437"/>
            <a:ext cx="14807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37-bus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7">
          <a:extLst>
            <a:ext uri="{FF2B5EF4-FFF2-40B4-BE49-F238E27FC236}">
              <a16:creationId xmlns:a16="http://schemas.microsoft.com/office/drawing/2014/main" id="{05B5BA67-EF59-CA73-6FA2-56EA59190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2">
            <a:extLst>
              <a:ext uri="{FF2B5EF4-FFF2-40B4-BE49-F238E27FC236}">
                <a16:creationId xmlns:a16="http://schemas.microsoft.com/office/drawing/2014/main" id="{E246741E-E079-E2D4-D9D8-9A32F7F264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75" y="1861301"/>
            <a:ext cx="7699251" cy="156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800" dirty="0"/>
              <a:t>Newton-Raphson</a:t>
            </a:r>
            <a:endParaRPr lang="en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771E374-CB12-A992-2970-315098C602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2374" y="3431199"/>
            <a:ext cx="4843770" cy="400200"/>
          </a:xfrm>
        </p:spPr>
        <p:txBody>
          <a:bodyPr/>
          <a:lstStyle/>
          <a:p>
            <a:r>
              <a:rPr lang="en" sz="1600" dirty="0"/>
              <a:t>Power Flow Solution by using numerical methods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0445191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Newton-Raphson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1" name="Google Shape;151;p29"/>
              <p:cNvGraphicFramePr/>
              <p:nvPr>
                <p:extLst>
                  <p:ext uri="{D42A27DB-BD31-4B8C-83A1-F6EECF244321}">
                    <p14:modId xmlns:p14="http://schemas.microsoft.com/office/powerpoint/2010/main" val="3959079850"/>
                  </p:ext>
                </p:extLst>
              </p:nvPr>
            </p:nvGraphicFramePr>
            <p:xfrm>
              <a:off x="324294" y="1156297"/>
              <a:ext cx="8324572" cy="3595021"/>
            </p:xfrm>
            <a:graphic>
              <a:graphicData uri="http://schemas.openxmlformats.org/drawingml/2006/table">
                <a:tbl>
                  <a:tblPr>
                    <a:noFill/>
                    <a:tableStyleId>{1BFB73FC-56DD-4E29-8FF2-4BCA7CAD1730}</a:tableStyleId>
                  </a:tblPr>
                  <a:tblGrid>
                    <a:gridCol w="287610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44846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1361641">
                    <a:tc>
                      <a:txBody>
                        <a:bodyPr/>
                        <a:lstStyle/>
                        <a:p>
                          <a:pPr marL="0" lvl="0" indent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lang="en-US" sz="1400" b="1" u="none" dirty="0">
                            <a:sym typeface="Inter Medium"/>
                          </a:endParaRPr>
                        </a:p>
                        <a:p>
                          <a:pPr marL="0" lvl="0" indent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None/>
                          </a:pPr>
                          <a:r>
                            <a:rPr lang="en-US" sz="1400" b="0" u="none" dirty="0">
                              <a:sym typeface="Inter Medium"/>
                            </a:rPr>
                            <a:t>Start with an initial guess </a:t>
                          </a:r>
                          <a:r>
                            <a:rPr lang="en-US" sz="1400" b="1" u="none" dirty="0">
                              <a:sym typeface="Inter Medium"/>
                            </a:rPr>
                            <a:t>x</a:t>
                          </a:r>
                          <a:r>
                            <a:rPr lang="en-US" sz="1400" b="1" u="none" baseline="0" dirty="0">
                              <a:sym typeface="Inter Medium"/>
                            </a:rPr>
                            <a:t>(0)</a:t>
                          </a:r>
                          <a:r>
                            <a:rPr lang="en-US" sz="1400" b="0" u="none" baseline="0" dirty="0">
                              <a:sym typeface="Inter Medium"/>
                            </a:rPr>
                            <a:t>.</a:t>
                          </a:r>
                          <a:endParaRPr lang="en-US" sz="1400" b="0" u="none" dirty="0">
                            <a:sym typeface="Inter Medium"/>
                          </a:endParaRPr>
                        </a:p>
                        <a:p>
                          <a:pPr marL="0" lvl="0" indent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lang="en-US" sz="1400" b="1" u="none" dirty="0">
                            <a:sym typeface="Inter Medium"/>
                          </a:endParaRPr>
                        </a:p>
                      </a:txBody>
                      <a:tcPr marL="91425" marR="91425" marT="0" marB="0" anchor="ctr">
                        <a:lnL w="9525" cap="flat" cmpd="sng">
                          <a:solidFill>
                            <a:schemeClr val="dk1">
                              <a:alpha val="0"/>
                            </a:scheme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>
                              <a:alpha val="0"/>
                            </a:scheme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171450" lvl="0" indent="-171450" algn="l">
                            <a:spcBef>
                              <a:spcPts val="0"/>
                            </a:spcBef>
                            <a:spcAft>
                              <a:spcPts val="1600"/>
                            </a:spcAft>
                            <a:buFont typeface="Arial"/>
                            <a:buChar char="•"/>
                          </a:pPr>
                          <a:endParaRPr lang="en" sz="1200" dirty="0">
                            <a:solidFill>
                              <a:schemeClr val="dk1"/>
                            </a:solidFill>
                            <a:latin typeface="Roboto"/>
                            <a:ea typeface="Roboto"/>
                            <a:cs typeface="Roboto"/>
                          </a:endParaRPr>
                        </a:p>
                        <a:p>
                          <a:pPr marL="171450" lvl="0" indent="-171450" algn="l">
                            <a:spcBef>
                              <a:spcPts val="0"/>
                            </a:spcBef>
                            <a:spcAft>
                              <a:spcPts val="1600"/>
                            </a:spcAft>
                            <a:buFont typeface="Arial"/>
                            <a:buChar char="•"/>
                          </a:pPr>
                          <a:r>
                            <a:rPr lang="en" sz="1200" dirty="0">
                              <a:solidFill>
                                <a:schemeClr val="dk1"/>
                              </a:solidFill>
                              <a:latin typeface="Roboto"/>
                              <a:ea typeface="Roboto"/>
                              <a:cs typeface="Roboto"/>
                            </a:rPr>
                            <a:t>The user will provide the initial voltage magnitudes and phase angles of all buses through a JSON file. </a:t>
                          </a:r>
                          <a:r>
                            <a:rPr lang="en-US" sz="1200" dirty="0">
                              <a:solidFill>
                                <a:schemeClr val="dk1"/>
                              </a:solidFill>
                              <a:latin typeface="Roboto"/>
                              <a:ea typeface="Roboto"/>
                              <a:cs typeface="Roboto"/>
                            </a:rPr>
                            <a:t>T</a:t>
                          </a:r>
                          <a:r>
                            <a:rPr lang="en" sz="1200" dirty="0">
                              <a:solidFill>
                                <a:schemeClr val="dk1"/>
                              </a:solidFill>
                              <a:latin typeface="Roboto"/>
                              <a:ea typeface="Roboto"/>
                              <a:cs typeface="Roboto"/>
                            </a:rPr>
                            <a:t>he user will also provide line impedance parameters.</a:t>
                          </a:r>
                        </a:p>
                        <a:p>
                          <a:pPr marL="171450" lvl="0" indent="-171450" algn="l">
                            <a:spcBef>
                              <a:spcPts val="0"/>
                            </a:spcBef>
                            <a:spcAft>
                              <a:spcPts val="1600"/>
                            </a:spcAft>
                            <a:buFont typeface="Arial"/>
                            <a:buChar char="•"/>
                          </a:pPr>
                          <a:r>
                            <a:rPr lang="en" sz="1200" dirty="0">
                              <a:solidFill>
                                <a:schemeClr val="dk1"/>
                              </a:solidFill>
                              <a:latin typeface="Roboto"/>
                              <a:ea typeface="Roboto"/>
                              <a:cs typeface="Roboto"/>
                            </a:rPr>
                            <a:t>The reference (slack) bus will be excluded from this set of vectors.</a:t>
                          </a:r>
                        </a:p>
                        <a:p>
                          <a:pPr marL="171450" lvl="0" indent="-171450" algn="l">
                            <a:spcBef>
                              <a:spcPts val="0"/>
                            </a:spcBef>
                            <a:spcAft>
                              <a:spcPts val="1600"/>
                            </a:spcAft>
                            <a:buFont typeface="Arial"/>
                            <a:buChar char="•"/>
                          </a:pPr>
                          <a:endParaRPr lang="en" sz="1200" dirty="0">
                            <a:solidFill>
                              <a:schemeClr val="dk1"/>
                            </a:solidFill>
                            <a:latin typeface="Roboto"/>
                            <a:ea typeface="Roboto"/>
                            <a:cs typeface="Roboto"/>
                          </a:endParaRPr>
                        </a:p>
                      </a:txBody>
                      <a:tcPr marL="91425" marR="91425" marT="0" marB="0" anchor="ctr"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>
                              <a:alpha val="0"/>
                            </a:scheme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>
                              <a:alpha val="0"/>
                            </a:scheme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42904616"/>
                      </a:ext>
                    </a:extLst>
                  </a:tr>
                  <a:tr h="1888141">
                    <a:tc>
                      <a:txBody>
                        <a:bodyPr/>
                        <a:lstStyle/>
                        <a:p>
                          <a:pPr marL="0" lvl="0" indent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lang="en-US" sz="1400" b="0" u="none" dirty="0">
                            <a:sym typeface="Inter Medium"/>
                          </a:endParaRPr>
                        </a:p>
                        <a:p>
                          <a:pPr marL="0" lvl="0" indent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None/>
                          </a:pPr>
                          <a:r>
                            <a:rPr lang="en-US" sz="1400" b="0" u="none" dirty="0">
                              <a:sym typeface="Inter Medium"/>
                            </a:rPr>
                            <a:t>Compute the power mismatch function </a:t>
                          </a:r>
                          <a:r>
                            <a:rPr lang="en-US" sz="1400" b="1" u="none" dirty="0">
                              <a:sym typeface="Inter Medium"/>
                            </a:rPr>
                            <a:t>y(i) </a:t>
                          </a:r>
                          <a:r>
                            <a:rPr lang="en-US" sz="1400" b="0" u="none" dirty="0">
                              <a:sym typeface="Inter Medium"/>
                            </a:rPr>
                            <a:t>= </a:t>
                          </a:r>
                          <a:r>
                            <a:rPr lang="en-US" sz="1400" b="1" u="none" dirty="0">
                              <a:sym typeface="Inter Medium"/>
                            </a:rPr>
                            <a:t>f(x(i))</a:t>
                          </a:r>
                          <a:r>
                            <a:rPr lang="en-US" sz="1400" b="0" u="none" dirty="0">
                              <a:sym typeface="Inter Medium"/>
                            </a:rPr>
                            <a:t> at the current </a:t>
                          </a:r>
                          <a:r>
                            <a:rPr lang="en-US" sz="1400" b="1" u="none" dirty="0">
                              <a:sym typeface="Inter Medium"/>
                            </a:rPr>
                            <a:t>x</a:t>
                          </a:r>
                          <a:r>
                            <a:rPr lang="en-US" sz="1400" b="1" u="none" baseline="0" dirty="0">
                              <a:sym typeface="Inter Medium"/>
                            </a:rPr>
                            <a:t>(i)</a:t>
                          </a:r>
                          <a:r>
                            <a:rPr lang="en-US" sz="1400" b="0" u="none" baseline="0" dirty="0">
                              <a:sym typeface="Inter Medium"/>
                            </a:rPr>
                            <a:t>.</a:t>
                          </a:r>
                        </a:p>
                        <a:p>
                          <a:pPr marL="0" lvl="0" indent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lang="en-US" sz="1400" b="0" u="none" dirty="0">
                            <a:sym typeface="Inter Medium"/>
                          </a:endParaRPr>
                        </a:p>
                      </a:txBody>
                      <a:tcPr marL="91425" marR="91425" marT="0" marB="0" anchor="ctr">
                        <a:lnL w="9525" cap="flat" cmpd="sng">
                          <a:solidFill>
                            <a:schemeClr val="dk1">
                              <a:alpha val="0"/>
                            </a:scheme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171450" marR="0" lvl="0" indent="-17145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160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Char char="•"/>
                            <a:tabLst/>
                            <a:defRPr/>
                          </a:pPr>
                          <a:r>
                            <a:rPr lang="en-US" sz="1200" dirty="0">
                              <a:effectLst/>
                            </a:rPr>
                            <a:t>Compute the current injections using the network: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1" i="0" smtClean="0">
                                  <a:effectLst/>
                                  <a:latin typeface="Cambria Math" panose="02040503050406030204" pitchFamily="18" charset="0"/>
                                </a:rPr>
                                <m:t>𝐈</m:t>
                              </m:r>
                              <m:r>
                                <a:rPr lang="en-US" sz="1200" b="1" i="0" smtClean="0">
                                  <a:effectLst/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1200" b="1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𝐘</m:t>
                                  </m:r>
                                </m:e>
                                <m:sub>
                                  <m:r>
                                    <a:rPr lang="en-US" sz="1200" b="1" i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𝐛𝐮𝐬</m:t>
                                  </m:r>
                                </m:sub>
                              </m:sSub>
                              <m:r>
                                <a:rPr lang="en-US" sz="1200" b="1" i="0" smtClean="0">
                                  <a:effectLst/>
                                  <a:latin typeface="Cambria Math" panose="02040503050406030204" pitchFamily="18" charset="0"/>
                                </a:rPr>
                                <m:t>𝐕</m:t>
                              </m:r>
                            </m:oMath>
                          </a14:m>
                          <a:endParaRPr lang="en-US" sz="1200" b="1" dirty="0">
                            <a:effectLst/>
                          </a:endParaRPr>
                        </a:p>
                        <a:p>
                          <a:pPr marL="171450" marR="0" lvl="0" indent="-17145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160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Char char="•"/>
                            <a:tabLst/>
                            <a:defRPr/>
                          </a:pPr>
                          <a:r>
                            <a:rPr lang="en-US" sz="1200" dirty="0">
                              <a:effectLst/>
                            </a:rPr>
                            <a:t>Compute the calculated complex power at each bus: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1" i="0" smtClean="0">
                                  <a:effectLst/>
                                  <a:latin typeface="Cambria Math" panose="02040503050406030204" pitchFamily="18" charset="0"/>
                                </a:rPr>
                                <m:t>𝐒</m:t>
                              </m:r>
                              <m:r>
                                <a:rPr lang="en-US" sz="1200" b="1" i="0" smtClean="0">
                                  <a:effectLst/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1200" b="1" i="0" smtClean="0">
                                  <a:effectLst/>
                                  <a:latin typeface="Cambria Math" panose="02040503050406030204" pitchFamily="18" charset="0"/>
                                </a:rPr>
                                <m:t>𝐕</m:t>
                              </m:r>
                              <m:sSup>
                                <m:sSupPr>
                                  <m:ctrlPr>
                                    <a:rPr lang="en-US" sz="1200" b="1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1" i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𝐈</m:t>
                                  </m:r>
                                </m:e>
                                <m:sup>
                                  <m:r>
                                    <a:rPr lang="en-US" sz="1200" b="1" i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200" b="1" i="0" dirty="0">
                              <a:effectLst/>
                            </a:rPr>
                            <a:t> </a:t>
                          </a:r>
                          <a:r>
                            <a:rPr lang="en-US" sz="1200" b="0" i="0" dirty="0">
                              <a:effectLst/>
                            </a:rPr>
                            <a:t>(I</a:t>
                          </a:r>
                          <a:r>
                            <a:rPr lang="en-US" sz="1200" b="0" i="0" baseline="0" dirty="0">
                              <a:effectLst/>
                            </a:rPr>
                            <a:t> conjugate)</a:t>
                          </a:r>
                          <a:endParaRPr lang="en-US" sz="1200" dirty="0">
                            <a:effectLst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160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1200" dirty="0">
                            <a:effectLst/>
                          </a:endParaRPr>
                        </a:p>
                        <a:p>
                          <a:pPr marL="171450" marR="0" lvl="0" indent="-17145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160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Char char="•"/>
                            <a:tabLst/>
                            <a:defRPr/>
                          </a:pPr>
                          <a:endParaRPr lang="en" sz="1200" b="1" i="0" dirty="0">
                            <a:solidFill>
                              <a:schemeClr val="dk1"/>
                            </a:solidFill>
                            <a:latin typeface="Roboto"/>
                            <a:ea typeface="Roboto"/>
                            <a:cs typeface="Roboto"/>
                          </a:endParaRPr>
                        </a:p>
                      </a:txBody>
                      <a:tcPr marL="91425" marR="91425" marT="0" marB="0" anchor="ctr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>
                              <a:alpha val="0"/>
                            </a:scheme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1" name="Google Shape;151;p29"/>
              <p:cNvGraphicFramePr/>
              <p:nvPr>
                <p:extLst>
                  <p:ext uri="{D42A27DB-BD31-4B8C-83A1-F6EECF244321}">
                    <p14:modId xmlns:p14="http://schemas.microsoft.com/office/powerpoint/2010/main" val="3959079850"/>
                  </p:ext>
                </p:extLst>
              </p:nvPr>
            </p:nvGraphicFramePr>
            <p:xfrm>
              <a:off x="324294" y="1156297"/>
              <a:ext cx="8324572" cy="3595021"/>
            </p:xfrm>
            <a:graphic>
              <a:graphicData uri="http://schemas.openxmlformats.org/drawingml/2006/table">
                <a:tbl>
                  <a:tblPr>
                    <a:noFill/>
                    <a:tableStyleId>{1BFB73FC-56DD-4E29-8FF2-4BCA7CAD1730}</a:tableStyleId>
                  </a:tblPr>
                  <a:tblGrid>
                    <a:gridCol w="287610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44846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1706880">
                    <a:tc>
                      <a:txBody>
                        <a:bodyPr/>
                        <a:lstStyle/>
                        <a:p>
                          <a:pPr marL="0" lvl="0" indent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lang="en-US" sz="1400" b="1" u="none" dirty="0">
                            <a:sym typeface="Inter Medium"/>
                          </a:endParaRPr>
                        </a:p>
                        <a:p>
                          <a:pPr marL="0" lvl="0" indent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None/>
                          </a:pPr>
                          <a:r>
                            <a:rPr lang="en-US" sz="1400" b="0" u="none" dirty="0">
                              <a:sym typeface="Inter Medium"/>
                            </a:rPr>
                            <a:t>Start with an initial guess </a:t>
                          </a:r>
                          <a:r>
                            <a:rPr lang="en-US" sz="1400" b="1" u="none" dirty="0">
                              <a:sym typeface="Inter Medium"/>
                            </a:rPr>
                            <a:t>x</a:t>
                          </a:r>
                          <a:r>
                            <a:rPr lang="en-US" sz="1400" b="1" u="none" baseline="0" dirty="0">
                              <a:sym typeface="Inter Medium"/>
                            </a:rPr>
                            <a:t>(0)</a:t>
                          </a:r>
                          <a:r>
                            <a:rPr lang="en-US" sz="1400" b="0" u="none" baseline="0" dirty="0">
                              <a:sym typeface="Inter Medium"/>
                            </a:rPr>
                            <a:t>.</a:t>
                          </a:r>
                          <a:endParaRPr lang="en-US" sz="1400" b="0" u="none" dirty="0">
                            <a:sym typeface="Inter Medium"/>
                          </a:endParaRPr>
                        </a:p>
                        <a:p>
                          <a:pPr marL="0" lvl="0" indent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lang="en-US" sz="1400" b="1" u="none" dirty="0">
                            <a:sym typeface="Inter Medium"/>
                          </a:endParaRPr>
                        </a:p>
                      </a:txBody>
                      <a:tcPr marL="91425" marR="91425" marT="0" marB="0" anchor="ctr">
                        <a:lnL w="9525" cap="flat" cmpd="sng">
                          <a:solidFill>
                            <a:schemeClr val="dk1">
                              <a:alpha val="0"/>
                            </a:scheme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>
                              <a:alpha val="0"/>
                            </a:scheme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171450" lvl="0" indent="-171450" algn="l">
                            <a:spcBef>
                              <a:spcPts val="0"/>
                            </a:spcBef>
                            <a:spcAft>
                              <a:spcPts val="1600"/>
                            </a:spcAft>
                            <a:buFont typeface="Arial"/>
                            <a:buChar char="•"/>
                          </a:pPr>
                          <a:endParaRPr lang="en" sz="1200" dirty="0">
                            <a:solidFill>
                              <a:schemeClr val="dk1"/>
                            </a:solidFill>
                            <a:latin typeface="Roboto"/>
                            <a:ea typeface="Roboto"/>
                            <a:cs typeface="Roboto"/>
                          </a:endParaRPr>
                        </a:p>
                        <a:p>
                          <a:pPr marL="171450" lvl="0" indent="-171450" algn="l">
                            <a:spcBef>
                              <a:spcPts val="0"/>
                            </a:spcBef>
                            <a:spcAft>
                              <a:spcPts val="1600"/>
                            </a:spcAft>
                            <a:buFont typeface="Arial"/>
                            <a:buChar char="•"/>
                          </a:pPr>
                          <a:r>
                            <a:rPr lang="en" sz="1200" dirty="0">
                              <a:solidFill>
                                <a:schemeClr val="dk1"/>
                              </a:solidFill>
                              <a:latin typeface="Roboto"/>
                              <a:ea typeface="Roboto"/>
                              <a:cs typeface="Roboto"/>
                            </a:rPr>
                            <a:t>The user will provide the initial voltage magnitudes and phase angles of all buses through a JSON file. </a:t>
                          </a:r>
                          <a:r>
                            <a:rPr lang="en-US" sz="1200" dirty="0">
                              <a:solidFill>
                                <a:schemeClr val="dk1"/>
                              </a:solidFill>
                              <a:latin typeface="Roboto"/>
                              <a:ea typeface="Roboto"/>
                              <a:cs typeface="Roboto"/>
                            </a:rPr>
                            <a:t>T</a:t>
                          </a:r>
                          <a:r>
                            <a:rPr lang="en" sz="1200" dirty="0">
                              <a:solidFill>
                                <a:schemeClr val="dk1"/>
                              </a:solidFill>
                              <a:latin typeface="Roboto"/>
                              <a:ea typeface="Roboto"/>
                              <a:cs typeface="Roboto"/>
                            </a:rPr>
                            <a:t>he user will also provide line impedance parameters.</a:t>
                          </a:r>
                        </a:p>
                        <a:p>
                          <a:pPr marL="171450" lvl="0" indent="-171450" algn="l">
                            <a:spcBef>
                              <a:spcPts val="0"/>
                            </a:spcBef>
                            <a:spcAft>
                              <a:spcPts val="1600"/>
                            </a:spcAft>
                            <a:buFont typeface="Arial"/>
                            <a:buChar char="•"/>
                          </a:pPr>
                          <a:r>
                            <a:rPr lang="en" sz="1200" dirty="0">
                              <a:solidFill>
                                <a:schemeClr val="dk1"/>
                              </a:solidFill>
                              <a:latin typeface="Roboto"/>
                              <a:ea typeface="Roboto"/>
                              <a:cs typeface="Roboto"/>
                            </a:rPr>
                            <a:t>The reference (slack) bus will be excluded from this set of vectors.</a:t>
                          </a:r>
                        </a:p>
                        <a:p>
                          <a:pPr marL="171450" lvl="0" indent="-171450" algn="l">
                            <a:spcBef>
                              <a:spcPts val="0"/>
                            </a:spcBef>
                            <a:spcAft>
                              <a:spcPts val="1600"/>
                            </a:spcAft>
                            <a:buFont typeface="Arial"/>
                            <a:buChar char="•"/>
                          </a:pPr>
                          <a:endParaRPr lang="en" sz="1200" dirty="0">
                            <a:solidFill>
                              <a:schemeClr val="dk1"/>
                            </a:solidFill>
                            <a:latin typeface="Roboto"/>
                            <a:ea typeface="Roboto"/>
                            <a:cs typeface="Roboto"/>
                          </a:endParaRPr>
                        </a:p>
                      </a:txBody>
                      <a:tcPr marL="91425" marR="91425" marT="0" marB="0" anchor="ctr"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>
                              <a:alpha val="0"/>
                            </a:scheme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>
                              <a:alpha val="0"/>
                            </a:scheme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42904616"/>
                      </a:ext>
                    </a:extLst>
                  </a:tr>
                  <a:tr h="1888141">
                    <a:tc>
                      <a:txBody>
                        <a:bodyPr/>
                        <a:lstStyle/>
                        <a:p>
                          <a:pPr marL="0" lvl="0" indent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lang="en-US" sz="1400" b="0" u="none" dirty="0">
                            <a:sym typeface="Inter Medium"/>
                          </a:endParaRPr>
                        </a:p>
                        <a:p>
                          <a:pPr marL="0" lvl="0" indent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None/>
                          </a:pPr>
                          <a:r>
                            <a:rPr lang="en-US" sz="1400" b="0" u="none" dirty="0">
                              <a:sym typeface="Inter Medium"/>
                            </a:rPr>
                            <a:t>Compute the power mismatch function </a:t>
                          </a:r>
                          <a:r>
                            <a:rPr lang="en-US" sz="1400" b="1" u="none" dirty="0">
                              <a:sym typeface="Inter Medium"/>
                            </a:rPr>
                            <a:t>y(i) </a:t>
                          </a:r>
                          <a:r>
                            <a:rPr lang="en-US" sz="1400" b="0" u="none" dirty="0">
                              <a:sym typeface="Inter Medium"/>
                            </a:rPr>
                            <a:t>= </a:t>
                          </a:r>
                          <a:r>
                            <a:rPr lang="en-US" sz="1400" b="1" u="none" dirty="0">
                              <a:sym typeface="Inter Medium"/>
                            </a:rPr>
                            <a:t>f(x(i))</a:t>
                          </a:r>
                          <a:r>
                            <a:rPr lang="en-US" sz="1400" b="0" u="none" dirty="0">
                              <a:sym typeface="Inter Medium"/>
                            </a:rPr>
                            <a:t> at the current </a:t>
                          </a:r>
                          <a:r>
                            <a:rPr lang="en-US" sz="1400" b="1" u="none" dirty="0">
                              <a:sym typeface="Inter Medium"/>
                            </a:rPr>
                            <a:t>x</a:t>
                          </a:r>
                          <a:r>
                            <a:rPr lang="en-US" sz="1400" b="1" u="none" baseline="0" dirty="0">
                              <a:sym typeface="Inter Medium"/>
                            </a:rPr>
                            <a:t>(i)</a:t>
                          </a:r>
                          <a:r>
                            <a:rPr lang="en-US" sz="1400" b="0" u="none" baseline="0" dirty="0">
                              <a:sym typeface="Inter Medium"/>
                            </a:rPr>
                            <a:t>.</a:t>
                          </a:r>
                        </a:p>
                        <a:p>
                          <a:pPr marL="0" lvl="0" indent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lang="en-US" sz="1400" b="0" u="none" dirty="0">
                            <a:sym typeface="Inter Medium"/>
                          </a:endParaRPr>
                        </a:p>
                      </a:txBody>
                      <a:tcPr marL="91425" marR="91425" marT="0" marB="0" anchor="ctr">
                        <a:lnL w="9525" cap="flat" cmpd="sng">
                          <a:solidFill>
                            <a:schemeClr val="dk1">
                              <a:alpha val="0"/>
                            </a:scheme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0" marB="0" anchor="ctr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>
                              <a:alpha val="0"/>
                            </a:scheme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blipFill>
                          <a:blip r:embed="rId3"/>
                          <a:stretch>
                            <a:fillRect l="-52908" t="-90968" r="-224" b="-32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52444311-B626-D62D-E329-D4AE2D0695C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286" r="4774"/>
          <a:stretch>
            <a:fillRect/>
          </a:stretch>
        </p:blipFill>
        <p:spPr>
          <a:xfrm>
            <a:off x="4572000" y="3841082"/>
            <a:ext cx="3019648" cy="7813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45">
          <a:extLst>
            <a:ext uri="{FF2B5EF4-FFF2-40B4-BE49-F238E27FC236}">
              <a16:creationId xmlns:a16="http://schemas.microsoft.com/office/drawing/2014/main" id="{DFFEA13D-34CB-95EA-BBB2-404B8C979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9">
            <a:extLst>
              <a:ext uri="{FF2B5EF4-FFF2-40B4-BE49-F238E27FC236}">
                <a16:creationId xmlns:a16="http://schemas.microsoft.com/office/drawing/2014/main" id="{F89439F7-C92D-A6E5-98B6-BA287951B6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Newton-Raphson</a:t>
            </a:r>
            <a:endParaRPr lang="en-US" dirty="0"/>
          </a:p>
        </p:txBody>
      </p:sp>
      <p:graphicFrame>
        <p:nvGraphicFramePr>
          <p:cNvPr id="151" name="Google Shape;151;p29">
            <a:extLst>
              <a:ext uri="{FF2B5EF4-FFF2-40B4-BE49-F238E27FC236}">
                <a16:creationId xmlns:a16="http://schemas.microsoft.com/office/drawing/2014/main" id="{04782AFC-4C24-3771-4F71-7AAC695CB55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88971566"/>
              </p:ext>
            </p:extLst>
          </p:nvPr>
        </p:nvGraphicFramePr>
        <p:xfrm>
          <a:off x="361507" y="1017725"/>
          <a:ext cx="8458200" cy="3729712"/>
        </p:xfrm>
        <a:graphic>
          <a:graphicData uri="http://schemas.openxmlformats.org/drawingml/2006/table">
            <a:tbl>
              <a:tblPr>
                <a:noFill/>
                <a:tableStyleId>{1BFB73FC-56DD-4E29-8FF2-4BCA7CAD1730}</a:tableStyleId>
              </a:tblPr>
              <a:tblGrid>
                <a:gridCol w="19510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071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29712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dirty="0">
                          <a:sym typeface="Inter Medium"/>
                        </a:rPr>
                        <a:t>Compute the Jacobian matrix.</a:t>
                      </a:r>
                    </a:p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1" u="none" dirty="0">
                        <a:sym typeface="Inter Medium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lvl="0" indent="-171450" algn="l">
                        <a:spcBef>
                          <a:spcPts val="0"/>
                        </a:spcBef>
                        <a:spcAft>
                          <a:spcPts val="1600"/>
                        </a:spcAft>
                        <a:buFont typeface="Arial"/>
                        <a:buChar char="•"/>
                      </a:pPr>
                      <a:endParaRPr lang="en" sz="12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</a:endParaRPr>
                    </a:p>
                    <a:p>
                      <a:pPr marL="171450" lvl="0" indent="-171450" algn="l">
                        <a:spcBef>
                          <a:spcPts val="0"/>
                        </a:spcBef>
                        <a:spcAft>
                          <a:spcPts val="1600"/>
                        </a:spcAft>
                        <a:buFont typeface="Arial"/>
                        <a:buChar char="•"/>
                      </a:pPr>
                      <a:endParaRPr lang="en" sz="12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</a:endParaRPr>
                    </a:p>
                    <a:p>
                      <a:pPr marL="171450" lvl="0" indent="-171450" algn="l">
                        <a:spcBef>
                          <a:spcPts val="0"/>
                        </a:spcBef>
                        <a:spcAft>
                          <a:spcPts val="1600"/>
                        </a:spcAft>
                        <a:buFont typeface="Arial"/>
                        <a:buChar char="•"/>
                      </a:pPr>
                      <a:endParaRPr lang="en" sz="12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</a:endParaRPr>
                    </a:p>
                    <a:p>
                      <a:pPr marL="171450" lvl="0" indent="-171450" algn="l">
                        <a:spcBef>
                          <a:spcPts val="0"/>
                        </a:spcBef>
                        <a:spcAft>
                          <a:spcPts val="1600"/>
                        </a:spcAft>
                        <a:buFont typeface="Arial"/>
                        <a:buChar char="•"/>
                      </a:pPr>
                      <a:endParaRPr lang="en" sz="12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</a:endParaRPr>
                    </a:p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Font typeface="Arial"/>
                        <a:buNone/>
                      </a:pPr>
                      <a:endParaRPr lang="en" sz="12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</a:endParaRPr>
                    </a:p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Font typeface="Arial"/>
                        <a:buNone/>
                      </a:pPr>
                      <a:endParaRPr lang="en" sz="12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</a:endParaRPr>
                    </a:p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Font typeface="Arial"/>
                        <a:buNone/>
                      </a:pPr>
                      <a:endParaRPr lang="en" sz="12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</a:endParaRPr>
                    </a:p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Font typeface="Arial"/>
                        <a:buNone/>
                      </a:pPr>
                      <a:endParaRPr lang="en" sz="12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</a:endParaRPr>
                    </a:p>
                    <a:p>
                      <a:pPr marL="171450" lvl="0" indent="-171450" algn="l">
                        <a:spcBef>
                          <a:spcPts val="0"/>
                        </a:spcBef>
                        <a:spcAft>
                          <a:spcPts val="1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The partial derivatives describe how real and reactive power vary with changes in voltage magnitude and phase angle. </a:t>
                      </a:r>
                      <a:endParaRPr lang="en" sz="12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2904616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0D6DF982-E85E-E598-9AD0-9E73D12689B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38" r="12544"/>
          <a:stretch>
            <a:fillRect/>
          </a:stretch>
        </p:blipFill>
        <p:spPr>
          <a:xfrm>
            <a:off x="6007394" y="1017725"/>
            <a:ext cx="2775099" cy="30120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01BD445-C6E4-9D0E-595F-48ACF351CC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2982" y="1017725"/>
            <a:ext cx="3054383" cy="3012015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8BD845E9-0630-BED1-B103-F0695E031686}"/>
              </a:ext>
            </a:extLst>
          </p:cNvPr>
          <p:cNvSpPr/>
          <p:nvPr/>
        </p:nvSpPr>
        <p:spPr>
          <a:xfrm>
            <a:off x="5562575" y="2444159"/>
            <a:ext cx="329609" cy="25518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9216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45">
          <a:extLst>
            <a:ext uri="{FF2B5EF4-FFF2-40B4-BE49-F238E27FC236}">
              <a16:creationId xmlns:a16="http://schemas.microsoft.com/office/drawing/2014/main" id="{0314D07A-FF00-CDFB-957F-4FAEF1E90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9">
            <a:extLst>
              <a:ext uri="{FF2B5EF4-FFF2-40B4-BE49-F238E27FC236}">
                <a16:creationId xmlns:a16="http://schemas.microsoft.com/office/drawing/2014/main" id="{81BFE702-8DE1-125B-1080-09AFA1161A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Newton-Raphson</a:t>
            </a:r>
            <a:endParaRPr lang="en-US" dirty="0"/>
          </a:p>
        </p:txBody>
      </p:sp>
      <p:graphicFrame>
        <p:nvGraphicFramePr>
          <p:cNvPr id="151" name="Google Shape;151;p29">
            <a:extLst>
              <a:ext uri="{FF2B5EF4-FFF2-40B4-BE49-F238E27FC236}">
                <a16:creationId xmlns:a16="http://schemas.microsoft.com/office/drawing/2014/main" id="{49C44A22-B09A-EB6D-B7CE-2E712E6FD0D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3273529"/>
              </p:ext>
            </p:extLst>
          </p:nvPr>
        </p:nvGraphicFramePr>
        <p:xfrm>
          <a:off x="713822" y="1206947"/>
          <a:ext cx="8153731" cy="3048000"/>
        </p:xfrm>
        <a:graphic>
          <a:graphicData uri="http://schemas.openxmlformats.org/drawingml/2006/table">
            <a:tbl>
              <a:tblPr>
                <a:noFill/>
                <a:tableStyleId>{1BFB73FC-56DD-4E29-8FF2-4BCA7CAD1730}</a:tableStyleId>
              </a:tblPr>
              <a:tblGrid>
                <a:gridCol w="22632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904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1525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0" u="none" dirty="0">
                        <a:sym typeface="Inter Medium"/>
                      </a:endParaRPr>
                    </a:p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dirty="0">
                          <a:sym typeface="Inter Medium"/>
                        </a:rPr>
                        <a:t>Solve the linear system to obtain the correction vector </a:t>
                      </a:r>
                      <a:r>
                        <a:rPr lang="el-GR" sz="1400" b="1" u="none" dirty="0">
                          <a:sym typeface="Inter Medium"/>
                        </a:rPr>
                        <a:t>Δ</a:t>
                      </a:r>
                      <a:r>
                        <a:rPr lang="en-US" sz="1400" b="1" u="none" dirty="0">
                          <a:sym typeface="Inter Medium"/>
                        </a:rPr>
                        <a:t>x(i). </a:t>
                      </a:r>
                    </a:p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0" u="none" dirty="0">
                        <a:sym typeface="Inter Medium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en" sz="1200" b="0" i="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</a:rPr>
                        <a:t>Use Gauss Elimination + back substitution or </a:t>
                      </a:r>
                      <a:r>
                        <a:rPr lang="en-US" sz="1200" b="0" i="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</a:rPr>
                        <a:t>Levenberg-Marquardt algorithm?</a:t>
                      </a:r>
                      <a:endParaRPr lang="en" sz="1200" b="0" i="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2904616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u="none" dirty="0">
                          <a:sym typeface="Inter Medium"/>
                        </a:rPr>
                        <a:t>Update unknown variables.</a:t>
                      </a:r>
                    </a:p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0" u="none" dirty="0">
                        <a:sym typeface="Inter Medium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Char char="•"/>
                        <a:tabLst/>
                        <a:defRPr/>
                      </a:pPr>
                      <a:endParaRPr lang="en" sz="1200" b="1" i="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Char char="•"/>
                        <a:tabLst/>
                        <a:defRPr/>
                      </a:pPr>
                      <a:endParaRPr lang="en" sz="1200" b="1" i="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Char char="•"/>
                        <a:tabLst/>
                        <a:defRPr/>
                      </a:pPr>
                      <a:endParaRPr lang="en" sz="1200" b="1" i="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Char char="•"/>
                        <a:tabLst/>
                        <a:defRPr/>
                      </a:pPr>
                      <a:endParaRPr lang="en" sz="1200" b="1" i="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0" u="none" dirty="0">
                        <a:sym typeface="Inter Medium"/>
                      </a:endParaRPr>
                    </a:p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dirty="0">
                          <a:sym typeface="Inter Medium"/>
                        </a:rPr>
                        <a:t>Check the mismatch</a:t>
                      </a:r>
                    </a:p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0" u="none" dirty="0">
                        <a:sym typeface="Inter Medium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</a:rPr>
                        <a:t>If the maximum value in </a:t>
                      </a:r>
                      <a:r>
                        <a:rPr lang="el-GR" sz="1200" b="1" u="none" dirty="0">
                          <a:sym typeface="Inter Medium"/>
                        </a:rPr>
                        <a:t>Δ</a:t>
                      </a:r>
                      <a:r>
                        <a:rPr lang="en-US" sz="1200" b="1" u="none" dirty="0">
                          <a:sym typeface="Inter Medium"/>
                        </a:rPr>
                        <a:t>y(i) </a:t>
                      </a:r>
                      <a:r>
                        <a:rPr lang="en-US" sz="1200" b="0" u="none" dirty="0">
                          <a:sym typeface="Inter Medium"/>
                        </a:rPr>
                        <a:t>&lt; tolerance, then the solution has converged.</a:t>
                      </a:r>
                      <a:endParaRPr lang="en" sz="1200" b="0" i="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3662486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0A49BD52-79AA-C99F-956E-C82CFF9AA1E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149"/>
          <a:stretch>
            <a:fillRect/>
          </a:stretch>
        </p:blipFill>
        <p:spPr>
          <a:xfrm>
            <a:off x="3954785" y="2514750"/>
            <a:ext cx="3897331" cy="781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2202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7">
          <a:extLst>
            <a:ext uri="{FF2B5EF4-FFF2-40B4-BE49-F238E27FC236}">
              <a16:creationId xmlns:a16="http://schemas.microsoft.com/office/drawing/2014/main" id="{8A2FC21E-6733-A7C8-2C6D-35BEED399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2">
            <a:extLst>
              <a:ext uri="{FF2B5EF4-FFF2-40B4-BE49-F238E27FC236}">
                <a16:creationId xmlns:a16="http://schemas.microsoft.com/office/drawing/2014/main" id="{ED119104-B981-3A2E-4E8A-60815D18D5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75" y="1861301"/>
            <a:ext cx="7699251" cy="156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800" dirty="0"/>
              <a:t>Program Structure</a:t>
            </a:r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17818865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03A13-EA5D-9D77-B92C-7D74D2BC1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A60C6-D9F1-99F7-ABFB-E5FCE8B98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Input File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9B21AE-9D18-F063-466B-B16D092A69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1853" y="793399"/>
            <a:ext cx="3300243" cy="3854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2851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E6F50-7E9A-1163-90A5-0BED843DF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Desired Program Output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528653-1744-EC78-9D55-EA898506A3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64" t="1" r="2232" b="1"/>
          <a:stretch>
            <a:fillRect/>
          </a:stretch>
        </p:blipFill>
        <p:spPr>
          <a:xfrm>
            <a:off x="478465" y="1208225"/>
            <a:ext cx="7952260" cy="32644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531115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2"/>
          <p:cNvSpPr txBox="1">
            <a:spLocks noGrp="1"/>
          </p:cNvSpPr>
          <p:nvPr>
            <p:ph type="title"/>
          </p:nvPr>
        </p:nvSpPr>
        <p:spPr>
          <a:xfrm>
            <a:off x="2680289" y="1865212"/>
            <a:ext cx="3783421" cy="95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Fin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DA18A4-8D60-ED0F-F3E5-32855C9A1260}"/>
              </a:ext>
            </a:extLst>
          </p:cNvPr>
          <p:cNvSpPr txBox="1"/>
          <p:nvPr/>
        </p:nvSpPr>
        <p:spPr>
          <a:xfrm>
            <a:off x="554182" y="3139044"/>
            <a:ext cx="3574473" cy="767938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nimalist Pitch Deck by Slidesgo">
  <a:themeElements>
    <a:clrScheme name="Simple Light">
      <a:dk1>
        <a:srgbClr val="000000"/>
      </a:dk1>
      <a:lt1>
        <a:srgbClr val="EFEEE7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EFEEE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415</TotalTime>
  <Words>821</Words>
  <Application>Microsoft Office PowerPoint</Application>
  <PresentationFormat>On-screen Show (16:9)</PresentationFormat>
  <Paragraphs>73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Roboto</vt:lpstr>
      <vt:lpstr>Nunito Light</vt:lpstr>
      <vt:lpstr>Inter Medium</vt:lpstr>
      <vt:lpstr>Arial</vt:lpstr>
      <vt:lpstr>Open Sans</vt:lpstr>
      <vt:lpstr>Cambria Math</vt:lpstr>
      <vt:lpstr>Minimalist Pitch Deck by Slidesgo</vt:lpstr>
      <vt:lpstr>Power Flow Solver</vt:lpstr>
      <vt:lpstr>What is Power Flow Analysis?</vt:lpstr>
      <vt:lpstr>Newton-Raphson</vt:lpstr>
      <vt:lpstr>Newton-Raphson</vt:lpstr>
      <vt:lpstr>Newton-Raphson</vt:lpstr>
      <vt:lpstr>Newton-Raphson</vt:lpstr>
      <vt:lpstr>Program Structure</vt:lpstr>
      <vt:lpstr>Input File</vt:lpstr>
      <vt:lpstr>Desired Program Output</vt:lpstr>
      <vt:lpstr>Fin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Owner</dc:creator>
  <cp:lastModifiedBy>Dubon, Daniel</cp:lastModifiedBy>
  <cp:revision>11</cp:revision>
  <dcterms:modified xsi:type="dcterms:W3CDTF">2026-04-19T06:11:46Z</dcterms:modified>
</cp:coreProperties>
</file>